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1097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67EEA"/>
                </a:solidFill>
              </a:rPr>
              <a:t>PW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74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PathWise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34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Personalized Learning Path Recommender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using Reinforcement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D7FF"/>
                </a:solidFill>
              </a:rPr>
              <a:t>"Learn Smarter. Progress Faster."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Data Science &amp; ML Certification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5720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Q-Learning + Bayesian Network + MAUT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5720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200 Students · 15 Concepts · 500 RL Episodes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C8FF"/>
                </a:solidFill>
              </a:rPr>
              <a:t>Topic 3 — RDMU Examination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Requirement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What the system must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7772400" cy="23774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630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7EEA"/>
                </a:solidFill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2E"/>
                </a:solidFill>
              </a:rPr>
              <a:t>Design an adaptive learning path recommender for students pursuing a</a:t>
            </a:r>
          </a:p>
          <a:p>
            <a:r>
              <a:rPr sz="1200" b="0">
                <a:solidFill>
                  <a:srgbClr val="1A1A2E"/>
                </a:solidFill>
              </a:rPr>
              <a:t>Data Science &amp; ML certification programme. The system must:</a:t>
            </a:r>
          </a:p>
          <a:p>
            <a:r>
              <a:rPr sz="1200" b="0">
                <a:solidFill>
                  <a:srgbClr val="1A1A2E"/>
                </a:solidFill>
              </a:rPr>
              <a:t>  • Understand each student's prior knowledge, preferences, and learning goals</a:t>
            </a:r>
          </a:p>
          <a:p>
            <a:r>
              <a:rPr sz="1200" b="0">
                <a:solidFill>
                  <a:srgbClr val="1A1A2E"/>
                </a:solidFill>
              </a:rPr>
              <a:t>  • Build a knowledge graph linking concepts, prerequisites, and skills</a:t>
            </a:r>
          </a:p>
          <a:p>
            <a:r>
              <a:rPr sz="1200" b="0">
                <a:solidFill>
                  <a:srgbClr val="1A1A2E"/>
                </a:solidFill>
              </a:rPr>
              <a:t>  • Use Reinforcement Learning to optimise path selection under constraints</a:t>
            </a:r>
          </a:p>
          <a:p>
            <a:r>
              <a:rPr sz="1200" b="0">
                <a:solidFill>
                  <a:srgbClr val="1A1A2E"/>
                </a:solidFill>
              </a:rPr>
              <a:t>  • Allow users to adjust learning objectives and observe adaptive changes</a:t>
            </a:r>
          </a:p>
          <a:p>
            <a:r>
              <a:rPr sz="1200" b="0">
                <a:solidFill>
                  <a:srgbClr val="1A1A2E"/>
                </a:solidFill>
              </a:rPr>
              <a:t>  • Visualise concept mastery progression and adaptive path updates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371600"/>
            <a:ext cx="361188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Expected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874519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2E"/>
                </a:solidFill>
              </a:rPr>
              <a:t>Interactive knowledge graph</a:t>
            </a:r>
          </a:p>
          <a:p>
            <a:r>
              <a:rPr sz="1200" b="0">
                <a:solidFill>
                  <a:srgbClr val="1A1A2E"/>
                </a:solidFill>
              </a:rPr>
              <a:t>Personalised learning dashboard</a:t>
            </a:r>
          </a:p>
          <a:p>
            <a:r>
              <a:rPr sz="1200" b="0">
                <a:solidFill>
                  <a:srgbClr val="1A1A2E"/>
                </a:solidFill>
              </a:rPr>
              <a:t>RL policy visualisation</a:t>
            </a:r>
          </a:p>
          <a:p>
            <a:r>
              <a:rPr sz="1200" b="0">
                <a:solidFill>
                  <a:srgbClr val="1A1A2E"/>
                </a:solidFill>
              </a:rPr>
              <a:t>Learning efficiency metric</a:t>
            </a:r>
          </a:p>
          <a:p>
            <a:r>
              <a:rPr sz="1200" b="0">
                <a:solidFill>
                  <a:srgbClr val="1A1A2E"/>
                </a:solidFill>
              </a:rPr>
              <a:t>Mastery rate tracking</a:t>
            </a:r>
          </a:p>
          <a:p>
            <a:r>
              <a:rPr sz="1200" b="0">
                <a:solidFill>
                  <a:srgbClr val="1A1A2E"/>
                </a:solidFill>
              </a:rPr>
              <a:t>Student satisfaction scores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11612880" cy="19202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</a:rPr>
              <a:t>System Constraints &amp;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100"/>
                </a:solidFill>
              </a:rPr>
              <a:t>  Time: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Available study hours per day per student (2–8 hrs)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100"/>
                </a:solidFill>
              </a:rPr>
              <a:t>  Difficulty: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15 concepts across 5 difficulty levels; prerequisite ordering enforced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100"/>
                </a:solidFill>
              </a:rPr>
              <a:t>  Mastery Goal: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983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Concepts considered mastered at 70% mastery score (configurable)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83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100"/>
                </a:solidFill>
              </a:rPr>
              <a:t>  Personalisation: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983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Goal type (speed/depth/certification) and preference (visual/reading/practice)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Concepts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Five core techniques working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657600" cy="1920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36576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Reinforcement
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90195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Q-Learning with ε-greedy</a:t>
            </a:r>
          </a:p>
          <a:p>
            <a:r>
              <a:rPr sz="1100" b="0">
                <a:solidFill>
                  <a:srgbClr val="1A1A2E"/>
                </a:solidFill>
              </a:rPr>
              <a:t>exploration. Bellman updates.</a:t>
            </a:r>
          </a:p>
          <a:p>
            <a:r>
              <a:rPr sz="1100" b="0">
                <a:solidFill>
                  <a:srgbClr val="1A1A2E"/>
                </a:solidFill>
              </a:rPr>
              <a:t>500 training episodes.</a:t>
            </a:r>
          </a:p>
          <a:p>
            <a:r>
              <a:rPr sz="1100" b="0">
                <a:solidFill>
                  <a:srgbClr val="1A1A2E"/>
                </a:solidFill>
              </a:rPr>
              <a:t>Sparse hash Q-table.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371600"/>
            <a:ext cx="3657600" cy="1920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371600"/>
            <a:ext cx="36576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417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Bayesian
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0195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5-node pgmpy model.</a:t>
            </a:r>
          </a:p>
          <a:p>
            <a:r>
              <a:rPr sz="1100" b="0">
                <a:solidFill>
                  <a:srgbClr val="1A1A2E"/>
                </a:solidFill>
              </a:rPr>
              <a:t>Infers P(mastery|prior,difficulty).</a:t>
            </a:r>
          </a:p>
          <a:p>
            <a:r>
              <a:rPr sz="1100" b="0">
                <a:solidFill>
                  <a:srgbClr val="1A1A2E"/>
                </a:solidFill>
              </a:rPr>
              <a:t>Shapes reward + gates recs.</a:t>
            </a:r>
          </a:p>
          <a:p>
            <a:r>
              <a:rPr sz="1100" b="0">
                <a:solidFill>
                  <a:srgbClr val="1A1A2E"/>
                </a:solidFill>
              </a:rPr>
              <a:t>Manual CPT fallback.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657600" cy="19202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Utility
Theory (MAUT)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0195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4-component utility:</a:t>
            </a:r>
          </a:p>
          <a:p>
            <a:r>
              <a:rPr sz="1100" b="0">
                <a:solidFill>
                  <a:srgbClr val="1A1A2E"/>
                </a:solidFill>
              </a:rPr>
              <a:t>Mastery · Time · Preference · Goal.</a:t>
            </a:r>
          </a:p>
          <a:p>
            <a:r>
              <a:rPr sz="1100" b="0">
                <a:solidFill>
                  <a:srgbClr val="1A1A2E"/>
                </a:solidFill>
              </a:rPr>
              <a:t>Weighted combination.</a:t>
            </a:r>
          </a:p>
          <a:p>
            <a:r>
              <a:rPr sz="1100" b="0">
                <a:solidFill>
                  <a:srgbClr val="1A1A2E"/>
                </a:solidFill>
              </a:rPr>
              <a:t>Sensitivity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520440"/>
            <a:ext cx="3657600" cy="19202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3520440"/>
            <a:ext cx="3657600" cy="4572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566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Knowledge
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050791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NetworkX DiGraph.</a:t>
            </a:r>
          </a:p>
          <a:p>
            <a:r>
              <a:rPr sz="1100" b="0">
                <a:solidFill>
                  <a:srgbClr val="1A1A2E"/>
                </a:solidFill>
              </a:rPr>
              <a:t>15 nodes · 27 edges.</a:t>
            </a:r>
          </a:p>
          <a:p>
            <a:r>
              <a:rPr sz="1100" b="0">
                <a:solidFill>
                  <a:srgbClr val="1A1A2E"/>
                </a:solidFill>
              </a:rPr>
              <a:t>Prerequisite gating.</a:t>
            </a:r>
          </a:p>
          <a:p>
            <a:r>
              <a:rPr sz="1100" b="0">
                <a:solidFill>
                  <a:srgbClr val="1A1A2E"/>
                </a:solidFill>
              </a:rPr>
              <a:t>Layered difficulty layout.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520440"/>
            <a:ext cx="3657600" cy="192024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520440"/>
            <a:ext cx="3657600" cy="45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66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MDP
Formulation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50791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State: mastery bins + hours + goal.</a:t>
            </a:r>
          </a:p>
          <a:p>
            <a:r>
              <a:rPr sz="1100" b="0">
                <a:solidFill>
                  <a:srgbClr val="1A1A2E"/>
                </a:solidFill>
              </a:rPr>
              <a:t>Action: concept to study next.</a:t>
            </a:r>
          </a:p>
          <a:p>
            <a:r>
              <a:rPr sz="1100" b="0">
                <a:solidFill>
                  <a:srgbClr val="1A1A2E"/>
                </a:solidFill>
              </a:rPr>
              <a:t>Reward: 5-component weighted sum.</a:t>
            </a:r>
          </a:p>
          <a:p>
            <a:r>
              <a:rPr sz="1100" b="0">
                <a:solidFill>
                  <a:srgbClr val="1A1A2E"/>
                </a:solidFill>
              </a:rPr>
              <a:t>Step: Bellman + BN bonus.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Application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End-to-end system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1737360" cy="12801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417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
Data
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88920"/>
            <a:ext cx="17373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2834640"/>
            <a:ext cx="1591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200 synthetic students</a:t>
            </a:r>
          </a:p>
          <a:p>
            <a:r>
              <a:rPr sz="1000" b="0">
                <a:solidFill>
                  <a:srgbClr val="1A1A2E"/>
                </a:solidFill>
              </a:rPr>
              <a:t>15-concept curriculum</a:t>
            </a:r>
          </a:p>
          <a:p>
            <a:r>
              <a:rPr sz="1000" b="0">
                <a:solidFill>
                  <a:srgbClr val="1A1A2E"/>
                </a:solidFill>
              </a:rPr>
              <a:t>Mastery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78308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67EE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417320"/>
            <a:ext cx="173736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417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
Knowledge
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21992" y="2788920"/>
            <a:ext cx="17373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95144" y="2834640"/>
            <a:ext cx="1591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NetworkX DiGraph</a:t>
            </a:r>
          </a:p>
          <a:p>
            <a:r>
              <a:rPr sz="1000" b="0">
                <a:solidFill>
                  <a:srgbClr val="1A1A2E"/>
                </a:solidFill>
              </a:rPr>
              <a:t>27 prerequisite edges</a:t>
            </a:r>
          </a:p>
          <a:p>
            <a:r>
              <a:rPr sz="1000" b="0">
                <a:solidFill>
                  <a:srgbClr val="1A1A2E"/>
                </a:solidFill>
              </a:rPr>
              <a:t>Prereq gating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178308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67EE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5384" y="1417320"/>
            <a:ext cx="1737360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5384" y="1417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
Bayesian
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5384" y="2788920"/>
            <a:ext cx="17373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834640"/>
            <a:ext cx="1591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Prior knowledge → ability</a:t>
            </a:r>
          </a:p>
          <a:p>
            <a:r>
              <a:rPr sz="1000" b="0">
                <a:solidFill>
                  <a:srgbClr val="1A1A2E"/>
                </a:solidFill>
              </a:rPr>
              <a:t>Concept difficulty</a:t>
            </a:r>
          </a:p>
          <a:p>
            <a:r>
              <a:rPr sz="1000" b="0">
                <a:solidFill>
                  <a:srgbClr val="1A1A2E"/>
                </a:solidFill>
              </a:rPr>
              <a:t>P(mastery)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4" y="178308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67EEA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1417320"/>
            <a:ext cx="1737360" cy="1280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6" y="1417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
MDP
+ Q-Learning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2788920"/>
            <a:ext cx="17373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2834640"/>
            <a:ext cx="1591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State-Action-Reward</a:t>
            </a:r>
          </a:p>
          <a:p>
            <a:r>
              <a:rPr sz="1000" b="0">
                <a:solidFill>
                  <a:srgbClr val="1A1A2E"/>
                </a:solidFill>
              </a:rPr>
              <a:t>500 training episodes</a:t>
            </a:r>
          </a:p>
          <a:p>
            <a:r>
              <a:rPr sz="1000" b="0">
                <a:solidFill>
                  <a:srgbClr val="1A1A2E"/>
                </a:solidFill>
              </a:rPr>
              <a:t>ε-greedy exploration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178308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67EEA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2168" y="1417320"/>
            <a:ext cx="1737360" cy="128016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1417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
Utility
Calculator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02168" y="2788920"/>
            <a:ext cx="17373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834640"/>
            <a:ext cx="1591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MAUT ranking</a:t>
            </a:r>
          </a:p>
          <a:p>
            <a:r>
              <a:rPr sz="1000" b="0">
                <a:solidFill>
                  <a:srgbClr val="1A1A2E"/>
                </a:solidFill>
              </a:rPr>
              <a:t>4-attribute scoring</a:t>
            </a:r>
          </a:p>
          <a:p>
            <a:r>
              <a:rPr sz="1000" b="0">
                <a:solidFill>
                  <a:srgbClr val="1A1A2E"/>
                </a:solidFill>
              </a:rPr>
              <a:t>Sensitivity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178308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67EEA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95560" y="1417320"/>
            <a:ext cx="1737360" cy="12801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1417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
Recommendation
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5560" y="2788920"/>
            <a:ext cx="17373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68712" y="2834640"/>
            <a:ext cx="1591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Q-value + Utility</a:t>
            </a:r>
          </a:p>
          <a:p>
            <a:r>
              <a:rPr sz="1000" b="0">
                <a:solidFill>
                  <a:srgbClr val="1A1A2E"/>
                </a:solidFill>
              </a:rPr>
              <a:t>BN readiness gate</a:t>
            </a:r>
          </a:p>
          <a:p>
            <a:r>
              <a:rPr sz="1000" b="0">
                <a:solidFill>
                  <a:srgbClr val="1A1A2E"/>
                </a:solidFill>
              </a:rPr>
              <a:t>Top-K ranked recs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4343400"/>
            <a:ext cx="11704320" cy="1508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4074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4BA2"/>
                </a:solidFill>
              </a:rPr>
              <a:t>Outputs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846320"/>
            <a:ext cx="2103120" cy="9144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892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10 Visualisations
(PNG files)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0048" y="4846320"/>
            <a:ext cx="2103120" cy="9144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15768" y="4892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Q-table
(pickle)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6" y="4846320"/>
            <a:ext cx="2103120" cy="9144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0056" y="4892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Student profiles
(JSON)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78624" y="4846320"/>
            <a:ext cx="2103120" cy="9144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24344" y="4892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Training history
(JSON)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82912" y="4846320"/>
            <a:ext cx="2103120" cy="9144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28632" y="4892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Interactive
ipywidgets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for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Environment setup and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577840" cy="4937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7EEA"/>
                </a:solidFill>
              </a:rPr>
              <a:t>Python Libraries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025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pgmpy &gt;= 0.1.21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02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Bayesian Network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41448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78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networkx &gt;=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780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Knowledge graph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16936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535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numpy &gt;= 1.23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Numerical computations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92424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pandas &gt;= 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429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Dataset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67912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9044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matplotlib &gt;= 3.6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Static visualisations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43400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799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seaborn &gt;= 0.12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3799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Statistical plots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18888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8554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scipy &gt;= 1.10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8554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Scientific utilities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94376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ipywidgets &gt;= 8.0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3309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Interactive Colab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69864"/>
            <a:ext cx="1920240" cy="40233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806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plotly &gt;= 5.15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806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Interactive charts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371600"/>
            <a:ext cx="5760720" cy="4937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</a:rPr>
              <a:t>Setup Steps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01167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Google Colab (Recommended)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350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1. Open colab.research.google.com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340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2. File → Upload pathwise_ai_colab.ipynb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11810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3. Runtime → Run 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50215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4. Wait ~3–5 min for training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5. Interact with the dashboard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453128"/>
            <a:ext cx="54864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498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Local Python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8371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1. Python 3.9+ required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2212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2. pip install -r requirements.txt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05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3. python pathwise_ai.py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989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(saves artefacts to ./pathwise_output/)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715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Install command (Colab Cell 2):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989320"/>
            <a:ext cx="54864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60167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!pip install pgmpy networkx plotly ipywidgets
      pandas numpy scipy matplotlib seaborn -q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Description of Data Used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Synthetic student population and curriculum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6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486400" cy="4983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EEA"/>
                </a:solidFill>
              </a:rPr>
              <a:t>Synthetic Student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Total Students: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933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200 synthetic learners (S001–S200)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237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Initial Mastery: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5237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C01–C03 seeded (0.10–0.65), rest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Learning Goal: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05409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speed / depth / certification (uniform random)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844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Preference: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584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visual / reading / practice (uniform random)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Study Hours: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2.0–8.0 hours per day (uniform random)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45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Learning Rate: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645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0.08–0.28 individual coefficient (uniform)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Episodes: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7550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20 learning episodes per student in synthetic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058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</a:rPr>
              <a:t>Dataset Size: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7058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200 × 20 = 4,000 rows 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371600"/>
            <a:ext cx="5852160" cy="4983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4630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15-Concept Curriculum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99339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C01 Python Basics         (Diff 1, 4h)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32257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C02 Statistics Fundamentals(Diff 2, 6h)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517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C03 Linear Algebra        (Diff 2, 5h)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980944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C04 Data Wrangling        (Diff 2, 5h)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31012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C05 Exploratory Analysis  (Diff 3, 6h)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3931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C06 Probability Theory    (Diff 3, 5h)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96849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C07 ML Basics             (Diff 3, 8h)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29768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C08 Supervised Learning   (Diff 4, 8h)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626864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C09 Unsupervised Learning  (Diff 4, 7h)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95604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C10 Feature Engineering   (Diff 4, 6h)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285231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C11 Model Evaluation      (Diff 4, 5h)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61441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C12 Deep Learning Intro   (Diff 5, 10h)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9436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C13 NLP Fundamentals      (Diff 5, 8h)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6272783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C14 MLOps &amp; Deployment    (Diff 5, 9h)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660196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C15 Capstone Project      (Diff 5, 12h)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Description of Data Used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Mastery update formula, reward structure, and MDP encoding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7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731520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</a:rPr>
              <a:t>Mastery Update Formula (per study episode)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m_new = m_old + lr × (1 − m_old) × affinity × diff_factor × prereq_mult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lr: individual rate (0.08–0.28)  |  affinity: preference × concept type  |  diff_factor: 1 − (difficulty−1)×0.10  |  prereq_mult: 1.0 (met) or 0.35 (not met)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5394960" cy="2834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5C0"/>
                </a:solidFill>
              </a:rPr>
              <a:t>5-Component Reward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w₁=0.40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015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01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ΔMastery gain  (× 4.0, clipped [0,1])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7856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w₂=0.20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856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785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Prerequisite bonus (fraction of prereqs met)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696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w₃=0.20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696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1696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Time efficiency  (1 − overshoot / est_hours)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53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−w₄=0.10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537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553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Revisit penalty  (if already mastered)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9377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−w₅=0.10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37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Skip penalty  (if prereqs not satisfied)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321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+BN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3218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bonus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321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0.15 × P(MasteryHigh | prior, difficulty)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371600"/>
            <a:ext cx="5943600" cy="4343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4630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4BA2"/>
                </a:solidFill>
              </a:rPr>
              <a:t>MDP State–Action Encoding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1993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State: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99339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(mastery_bins[15], hours_bin, goal_enc) → hashed 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23774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Mastery bins: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23774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[0.0, 0.33, 0.70, 1.01] → 0=low,1=mid,2=high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Hours bins: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76148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[0.0, 4.0, 6.0, 9.0] → 3 bins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1455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Goal encoding: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14553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0=speed, 1=depth, 2=certification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5295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Action: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352958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Select concept C01–C15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39136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State space: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91363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3¹⁵ × 3 × 3 (sparse hash — only visited states)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2976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Q-table: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2976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defaultdict(defaultdict(float)) — sparse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6817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α(t):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68172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0.30 / (1 + 0.001 × t) — decaying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0657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ε(t):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50657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exp(−0.005 × t), floor 0.05 + stagnation boost +0.20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449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4BA2"/>
                </a:solidFill>
              </a:rPr>
              <a:t>γ: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44982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0.90 discount factor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23360"/>
            <a:ext cx="5394960" cy="1691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MAUT Utility Weights: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49884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Mastery=0.35  ·  Time=0.25  ·  Preference=0.20  ·  Goal Alignment=0.20
U(a,s) = 0.35·U_mastery + 0.25·U_time + 0.20·U_pref + 0.20·U_goal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Dashboard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Interactive ipywidgets interface inside Google Colab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8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The PathWise AI Colab notebook includes a multi-tab interactive dashboard built entirely with ipywidgets — no external server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057400"/>
            <a:ext cx="37033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Tab 1
Student Explorer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0320"/>
            <a:ext cx="37033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24328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• Dropdown: select any of 200 students</a:t>
            </a:r>
          </a:p>
          <a:p>
            <a:r>
              <a:rPr sz="1000" b="0">
                <a:solidFill>
                  <a:srgbClr val="1A1A2E"/>
                </a:solidFill>
              </a:rPr>
              <a:t>• Override learning goal and preference</a:t>
            </a:r>
          </a:p>
          <a:p>
            <a:r>
              <a:rPr sz="1000" b="0">
                <a:solidFill>
                  <a:srgbClr val="1A1A2E"/>
                </a:solidFill>
              </a:rPr>
              <a:t>• Shows top-5 recommendations with Q-value,</a:t>
            </a:r>
          </a:p>
          <a:p>
            <a:r>
              <a:rPr sz="1000" b="0">
                <a:solidFill>
                  <a:srgbClr val="1A1A2E"/>
                </a:solidFill>
              </a:rPr>
              <a:t>  Utility, BN mastery P, BN success P</a:t>
            </a:r>
          </a:p>
          <a:p>
            <a:r>
              <a:rPr sz="1000" b="0">
                <a:solidFill>
                  <a:srgbClr val="1A1A2E"/>
                </a:solidFill>
              </a:rPr>
              <a:t>• Horizontal mastery bar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2057400"/>
            <a:ext cx="37033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21031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Tab 2
Knowledge 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2560320"/>
            <a:ext cx="37033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624328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• Colour-coded concept graph per student</a:t>
            </a:r>
          </a:p>
          <a:p>
            <a:r>
              <a:rPr sz="1000" b="0">
                <a:solidFill>
                  <a:srgbClr val="1A1A2E"/>
                </a:solidFill>
              </a:rPr>
              <a:t>  (Red=not started, Yellow=in progress,</a:t>
            </a:r>
          </a:p>
          <a:p>
            <a:r>
              <a:rPr sz="1000" b="0">
                <a:solidFill>
                  <a:srgbClr val="1A1A2E"/>
                </a:solidFill>
              </a:rPr>
              <a:t>   Green=mastered, Blue=recommended)</a:t>
            </a:r>
          </a:p>
          <a:p>
            <a:r>
              <a:rPr sz="1000" b="0">
                <a:solidFill>
                  <a:srgbClr val="1A1A2E"/>
                </a:solidFill>
              </a:rPr>
              <a:t>• Shows suggested learning path</a:t>
            </a:r>
          </a:p>
          <a:p>
            <a:r>
              <a:rPr sz="1000" b="0">
                <a:solidFill>
                  <a:srgbClr val="1A1A2E"/>
                </a:solidFill>
              </a:rPr>
              <a:t>• Lists next valid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8" y="2057400"/>
            <a:ext cx="37033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031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Tab 3
RL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2560320"/>
            <a:ext cx="37033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2624328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• Q-value heatmap (states × actions)</a:t>
            </a:r>
          </a:p>
          <a:p>
            <a:r>
              <a:rPr sz="1000" b="0">
                <a:solidFill>
                  <a:srgbClr val="1A1A2E"/>
                </a:solidFill>
              </a:rPr>
              <a:t>• Cumulative reward curve + smoothed</a:t>
            </a:r>
          </a:p>
          <a:p>
            <a:r>
              <a:rPr sz="1000" b="0">
                <a:solidFill>
                  <a:srgbClr val="1A1A2E"/>
                </a:solidFill>
              </a:rPr>
              <a:t>• ΔQ convergence plot (log scale)</a:t>
            </a:r>
          </a:p>
          <a:p>
            <a:r>
              <a:rPr sz="1000" b="0">
                <a:solidFill>
                  <a:srgbClr val="1A1A2E"/>
                </a:solidFill>
              </a:rPr>
              <a:t>• ε-decay + stagnation boost events</a:t>
            </a:r>
          </a:p>
          <a:p>
            <a:r>
              <a:rPr sz="1000" b="0">
                <a:solidFill>
                  <a:srgbClr val="1A1A2E"/>
                </a:solidFill>
              </a:rPr>
              <a:t>• RL hyper-parameter summary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4297680"/>
            <a:ext cx="370332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434340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Tab 4
Learning Analytics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4800600"/>
            <a:ext cx="37033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4864608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• Mastery rate (%) across episodes</a:t>
            </a:r>
          </a:p>
          <a:p>
            <a:r>
              <a:rPr sz="1000" b="0">
                <a:solidFill>
                  <a:srgbClr val="1A1A2E"/>
                </a:solidFill>
              </a:rPr>
              <a:t>• Student satisfaction trend</a:t>
            </a:r>
          </a:p>
          <a:p>
            <a:r>
              <a:rPr sz="1000" b="0">
                <a:solidFill>
                  <a:srgbClr val="1A1A2E"/>
                </a:solidFill>
              </a:rPr>
              <a:t>• Learning efficiency comparison</a:t>
            </a:r>
          </a:p>
          <a:p>
            <a:r>
              <a:rPr sz="1000" b="0">
                <a:solidFill>
                  <a:srgbClr val="1A1A2E"/>
                </a:solidFill>
              </a:rPr>
              <a:t>  (PathWise vs random baseline)</a:t>
            </a:r>
          </a:p>
          <a:p>
            <a:r>
              <a:rPr sz="1000" b="0">
                <a:solidFill>
                  <a:srgbClr val="1A1A2E"/>
                </a:solidFill>
              </a:rPr>
              <a:t>• All 5 key metrics displayed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18504" y="4297680"/>
            <a:ext cx="3703320" cy="502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434340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Tab 5
Mastery Progression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504" y="4800600"/>
            <a:ext cx="37033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864608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</a:rPr>
              <a:t>• Per-student mastery over episodes</a:t>
            </a:r>
          </a:p>
          <a:p>
            <a:r>
              <a:rPr sz="1000" b="0">
                <a:solidFill>
                  <a:srgbClr val="1A1A2E"/>
                </a:solidFill>
              </a:rPr>
              <a:t>• All 15 concepts on one timeline</a:t>
            </a:r>
          </a:p>
          <a:p>
            <a:r>
              <a:rPr sz="1000" b="0">
                <a:solidFill>
                  <a:srgbClr val="1A1A2E"/>
                </a:solidFill>
              </a:rPr>
              <a:t>• Utility bar chart for each student</a:t>
            </a:r>
          </a:p>
          <a:p>
            <a:r>
              <a:rPr sz="1000" b="0">
                <a:solidFill>
                  <a:srgbClr val="1A1A2E"/>
                </a:solidFill>
              </a:rPr>
              <a:t>• Mastery threshold reference 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Dashboard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Expected metrics, visualisations, and artefacts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9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7315200" cy="2926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EEA"/>
                </a:solidFill>
              </a:rPr>
              <a:t>Four Core Metrics Computed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</a:rPr>
              <a:t>Learning Efficiency (LE)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LE = (concepts mastered / total study hours) ×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7802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PathWise improves LE over random baseline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24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</a:rPr>
              <a:t>Mastery Rate (MR)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3522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MR = (concepts ≥ 0.70 mastery / 15) ×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3639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Tracked per episode across all 200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</a:rPr>
              <a:t>Student Satisfaction Score (SS)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93591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SS = mean utility alignment score across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Proxy for recommendation quality from student's perspective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4106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</a:rPr>
              <a:t>BN Readiness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Only recommend concept if P(success ≥ pass) ≥ 0.40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531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Prevents premature concept 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371600"/>
            <a:ext cx="4023360" cy="2926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463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10 Saved Visualisations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99339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01 Knowledge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2494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02 Q-Value Heatmap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50545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03 Reward 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7614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04 ΔQ Convergence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05 Mastery Progression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27355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06 Utility Bar Chart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52958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07 ε-Decay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78561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08 Mastery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0416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09 Satisfaction Trend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29768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10 Learning Efficiency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34840"/>
            <a:ext cx="11612880" cy="16916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</a:rPr>
              <a:t>Saved Artefacts  →  ./pathwise_output/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</a:rPr>
              <a:t>q_table.pkl: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983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Serialised Q-table (defaultdict)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</a:rPr>
              <a:t>students.json: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983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All 200 student profiles + mastery vectors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</a:rPr>
              <a:t>metrics.json: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532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LE, MR, SS, improvement % values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</a:rPr>
              <a:t>training_history.json: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532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Reward history, ΔQ curve, convergence episode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Results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D7FF"/>
                </a:solidFill>
              </a:rPr>
              <a:t>What PathWise AI achieves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PathWise AI  |  Personalized Learning Path Recommender  |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Slide 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1031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Learning
Efficiency 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31720"/>
            <a:ext cx="2103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37744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</a:rPr>
              <a:t>+15–30%
over random
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1417320"/>
            <a:ext cx="210312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0903" y="1444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Avg Mastery
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2331720"/>
            <a:ext cx="2103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3" y="237744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565C0"/>
                </a:solidFill>
              </a:rPr>
              <a:t>&gt;60%
concepts
mastered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1417320"/>
            <a:ext cx="2103120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1444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Avg Student
Satisfaction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331720"/>
            <a:ext cx="2103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237744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67EEA"/>
                </a:solidFill>
              </a:rPr>
              <a:t>&gt;0.55
utility
alignment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96912" y="1417320"/>
            <a:ext cx="210312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1444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Q-Table
Convergence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2331720"/>
            <a:ext cx="2103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1" y="237744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5100"/>
                </a:solidFill>
              </a:rPr>
              <a:t>&lt; 500
episodes
(ΔQ&lt;0.001)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1417320"/>
            <a:ext cx="2103120" cy="9144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6" y="1444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BN Gate
Precision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7776" y="2331720"/>
            <a:ext cx="21031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83496" y="237744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64BA2"/>
                </a:solidFill>
              </a:rPr>
              <a:t>&gt;40%
P(success)
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37560"/>
            <a:ext cx="7040880" cy="28346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2900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EEA"/>
                </a:solidFill>
              </a:rPr>
              <a:t>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58768"/>
            <a:ext cx="6675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PathWise AI demonstrates that combining Reinforcement Learning with</a:t>
            </a:r>
          </a:p>
          <a:p>
            <a:r>
              <a:rPr sz="1100" b="0">
                <a:solidFill>
                  <a:srgbClr val="1A1A2E"/>
                </a:solidFill>
              </a:rPr>
              <a:t>probabilistic and graph-based models produces a significantly more</a:t>
            </a:r>
          </a:p>
          <a:p>
            <a:r>
              <a:rPr sz="1100" b="0">
                <a:solidFill>
                  <a:srgbClr val="1A1A2E"/>
                </a:solidFill>
              </a:rPr>
              <a:t>effective learning path than random or fixed sequential curricula.</a:t>
            </a:r>
          </a:p>
          <a:p>
            <a:r>
              <a:rPr sz="1100" b="0">
                <a:solidFill>
                  <a:srgbClr val="1A1A2E"/>
                </a:solidFill>
              </a:rPr>
              <a:t/>
            </a:r>
          </a:p>
          <a:p>
            <a:r>
              <a:rPr sz="1100" b="0">
                <a:solidFill>
                  <a:srgbClr val="1A1A2E"/>
                </a:solidFill>
              </a:rPr>
              <a:t>Key design decisions that drive quality:</a:t>
            </a:r>
          </a:p>
          <a:p>
            <a:r>
              <a:rPr sz="1100" b="0">
                <a:solidFill>
                  <a:srgbClr val="1A1A2E"/>
                </a:solidFill>
              </a:rPr>
              <a:t>  • Sparse Q-table handles the large state space efficiently</a:t>
            </a:r>
          </a:p>
          <a:p>
            <a:r>
              <a:rPr sz="1100" b="0">
                <a:solidFill>
                  <a:srgbClr val="1A1A2E"/>
                </a:solidFill>
              </a:rPr>
              <a:t>  • Bayesian Network adds probabilistic rigour to recommendations</a:t>
            </a:r>
          </a:p>
          <a:p>
            <a:r>
              <a:rPr sz="1100" b="0">
                <a:solidFill>
                  <a:srgbClr val="1A1A2E"/>
                </a:solidFill>
              </a:rPr>
              <a:t>  • MAUT ensures recommendations respect student preferences &amp; goals</a:t>
            </a:r>
          </a:p>
          <a:p>
            <a:r>
              <a:rPr sz="1100" b="0">
                <a:solidFill>
                  <a:srgbClr val="1A1A2E"/>
                </a:solidFill>
              </a:rPr>
              <a:t>  • Knowledge Graph enforces pedagogically sound prerequisite order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337560"/>
            <a:ext cx="4297680" cy="2834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4290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Future Extensions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858768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Deep Q-Network (DQN) for larger</a:t>
            </a:r>
          </a:p>
          <a:p>
            <a:r>
              <a:rPr sz="1100" b="0">
                <a:solidFill>
                  <a:srgbClr val="1A1A2E"/>
                </a:solidFill>
              </a:rPr>
              <a:t>  continuous state spaces</a:t>
            </a:r>
          </a:p>
          <a:p>
            <a:r>
              <a:rPr sz="1100" b="0">
                <a:solidFill>
                  <a:srgbClr val="1A1A2E"/>
                </a:solidFill>
              </a:rPr>
              <a:t>Real student data integration</a:t>
            </a:r>
          </a:p>
          <a:p>
            <a:r>
              <a:rPr sz="1100" b="0">
                <a:solidFill>
                  <a:srgbClr val="1A1A2E"/>
                </a:solidFill>
              </a:rPr>
              <a:t>Natural language feedback loop</a:t>
            </a:r>
          </a:p>
          <a:p>
            <a:r>
              <a:rPr sz="1100" b="0">
                <a:solidFill>
                  <a:srgbClr val="1A1A2E"/>
                </a:solidFill>
              </a:rPr>
              <a:t>Multi-objective Pareto-optimal</a:t>
            </a:r>
          </a:p>
          <a:p>
            <a:r>
              <a:rPr sz="1100" b="0">
                <a:solidFill>
                  <a:srgbClr val="1A1A2E"/>
                </a:solidFill>
              </a:rPr>
              <a:t>  path selection</a:t>
            </a:r>
          </a:p>
          <a:p>
            <a:r>
              <a:rPr sz="1100" b="0">
                <a:solidFill>
                  <a:srgbClr val="1A1A2E"/>
                </a:solidFill>
              </a:rPr>
              <a:t>Collaborative filtering layer</a:t>
            </a:r>
          </a:p>
          <a:p>
            <a:r>
              <a:rPr sz="1100" b="0">
                <a:solidFill>
                  <a:srgbClr val="1A1A2E"/>
                </a:solidFill>
              </a:rPr>
              <a:t>Mobile / LMS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